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27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5DD9FD-75B9-4440-AC71-9A0611D8558D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57DF73-ED2D-4669-8EC6-61A321702A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•Strong sales performance with Rs 56.9M revenue</a:t>
          </a:r>
        </a:p>
      </dgm:t>
    </dgm:pt>
    <dgm:pt modelId="{347169E4-5B9C-408F-BA5E-49F12FBC22A2}" type="parTrans" cxnId="{53D611C4-9DBF-4AA0-9455-81C5E5D3A70E}">
      <dgm:prSet/>
      <dgm:spPr/>
      <dgm:t>
        <a:bodyPr/>
        <a:lstStyle/>
        <a:p>
          <a:endParaRPr lang="en-US"/>
        </a:p>
      </dgm:t>
    </dgm:pt>
    <dgm:pt modelId="{A90EA862-CB44-4536-8968-C0350FBB94AD}" type="sibTrans" cxnId="{53D611C4-9DBF-4AA0-9455-81C5E5D3A70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B5C19D6-25A1-457D-8E38-3E93A408A3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29,575 orders across 274 brands</a:t>
          </a:r>
        </a:p>
      </dgm:t>
    </dgm:pt>
    <dgm:pt modelId="{FD205740-466C-45B7-8122-496D3210A199}" type="parTrans" cxnId="{B51A67DE-45A1-420D-BE6A-83DFB4C75913}">
      <dgm:prSet/>
      <dgm:spPr/>
      <dgm:t>
        <a:bodyPr/>
        <a:lstStyle/>
        <a:p>
          <a:endParaRPr lang="en-US"/>
        </a:p>
      </dgm:t>
    </dgm:pt>
    <dgm:pt modelId="{8B38637F-F503-47C1-A2FC-0348A36921C1}" type="sibTrans" cxnId="{B51A67DE-45A1-420D-BE6A-83DFB4C7591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BC3160F-32BE-4BEE-84A2-91932B932B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Revenue driven by few high-performing brands</a:t>
          </a:r>
        </a:p>
      </dgm:t>
    </dgm:pt>
    <dgm:pt modelId="{5A2232D7-8016-4977-AAB4-E57E9622AEBC}" type="parTrans" cxnId="{D170C5F3-3069-4B89-B4CC-D5F3C7ED4DE5}">
      <dgm:prSet/>
      <dgm:spPr/>
      <dgm:t>
        <a:bodyPr/>
        <a:lstStyle/>
        <a:p>
          <a:endParaRPr lang="en-US"/>
        </a:p>
      </dgm:t>
    </dgm:pt>
    <dgm:pt modelId="{212A347D-A2F1-4993-9DC1-6EBAD5A2839B}" type="sibTrans" cxnId="{D170C5F3-3069-4B89-B4CC-D5F3C7ED4DE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833C105-506D-466F-ACBA-2A24FB4E57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Discount-heavy categories impact profitability</a:t>
          </a:r>
        </a:p>
      </dgm:t>
    </dgm:pt>
    <dgm:pt modelId="{18710D22-CF32-4710-A980-190CEB0A17CE}" type="parTrans" cxnId="{AE90CE2E-CDBE-4B8C-B458-2BEE8C5236C2}">
      <dgm:prSet/>
      <dgm:spPr/>
      <dgm:t>
        <a:bodyPr/>
        <a:lstStyle/>
        <a:p>
          <a:endParaRPr lang="en-US"/>
        </a:p>
      </dgm:t>
    </dgm:pt>
    <dgm:pt modelId="{7629EDF1-6FF6-4050-9ED4-176345B4CB8B}" type="sibTrans" cxnId="{AE90CE2E-CDBE-4B8C-B458-2BEE8C5236C2}">
      <dgm:prSet/>
      <dgm:spPr/>
      <dgm:t>
        <a:bodyPr/>
        <a:lstStyle/>
        <a:p>
          <a:endParaRPr lang="en-US"/>
        </a:p>
      </dgm:t>
    </dgm:pt>
    <dgm:pt modelId="{891A1AB7-E34E-440F-BEFF-47F82C41C942}" type="pres">
      <dgm:prSet presAssocID="{BC5DD9FD-75B9-4440-AC71-9A0611D8558D}" presName="root" presStyleCnt="0">
        <dgm:presLayoutVars>
          <dgm:dir/>
          <dgm:resizeHandles val="exact"/>
        </dgm:presLayoutVars>
      </dgm:prSet>
      <dgm:spPr/>
    </dgm:pt>
    <dgm:pt modelId="{ED2D9F5D-49AB-45D3-B84E-44CB9119C4CA}" type="pres">
      <dgm:prSet presAssocID="{BC5DD9FD-75B9-4440-AC71-9A0611D8558D}" presName="container" presStyleCnt="0">
        <dgm:presLayoutVars>
          <dgm:dir/>
          <dgm:resizeHandles val="exact"/>
        </dgm:presLayoutVars>
      </dgm:prSet>
      <dgm:spPr/>
    </dgm:pt>
    <dgm:pt modelId="{82BF2702-A1C8-4ECB-BD64-BD1AD4479DAF}" type="pres">
      <dgm:prSet presAssocID="{DB5C19D6-25A1-457D-8E38-3E93A408A393}" presName="compNode" presStyleCnt="0"/>
      <dgm:spPr/>
    </dgm:pt>
    <dgm:pt modelId="{7556A9AA-625C-4D74-9E5E-F16A85767E1C}" type="pres">
      <dgm:prSet presAssocID="{DB5C19D6-25A1-457D-8E38-3E93A408A393}" presName="iconBgRect" presStyleLbl="bgShp" presStyleIdx="0" presStyleCnt="4"/>
      <dgm:spPr/>
    </dgm:pt>
    <dgm:pt modelId="{36E314B0-81E4-4DEE-B168-EFD9C17CEFEC}" type="pres">
      <dgm:prSet presAssocID="{DB5C19D6-25A1-457D-8E38-3E93A408A39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BF50FDDE-240A-4A44-84C6-DE19A1203368}" type="pres">
      <dgm:prSet presAssocID="{DB5C19D6-25A1-457D-8E38-3E93A408A393}" presName="spaceRect" presStyleCnt="0"/>
      <dgm:spPr/>
    </dgm:pt>
    <dgm:pt modelId="{FD4CB2C7-E2BE-4D9C-95FE-4A1006363E6B}" type="pres">
      <dgm:prSet presAssocID="{DB5C19D6-25A1-457D-8E38-3E93A408A393}" presName="textRect" presStyleLbl="revTx" presStyleIdx="0" presStyleCnt="4">
        <dgm:presLayoutVars>
          <dgm:chMax val="1"/>
          <dgm:chPref val="1"/>
        </dgm:presLayoutVars>
      </dgm:prSet>
      <dgm:spPr/>
    </dgm:pt>
    <dgm:pt modelId="{F5DD537C-EC07-487E-9B45-079FCABAE5DB}" type="pres">
      <dgm:prSet presAssocID="{8B38637F-F503-47C1-A2FC-0348A36921C1}" presName="sibTrans" presStyleLbl="sibTrans2D1" presStyleIdx="0" presStyleCnt="0"/>
      <dgm:spPr/>
    </dgm:pt>
    <dgm:pt modelId="{2445F0F2-15B1-459B-9EAC-772F1F9352F6}" type="pres">
      <dgm:prSet presAssocID="{9057DF73-ED2D-4669-8EC6-61A321702AF5}" presName="compNode" presStyleCnt="0"/>
      <dgm:spPr/>
    </dgm:pt>
    <dgm:pt modelId="{F547A1BE-3454-499B-B6B5-632C6F91A0EB}" type="pres">
      <dgm:prSet presAssocID="{9057DF73-ED2D-4669-8EC6-61A321702AF5}" presName="iconBgRect" presStyleLbl="bgShp" presStyleIdx="1" presStyleCnt="4"/>
      <dgm:spPr/>
    </dgm:pt>
    <dgm:pt modelId="{ABBADC3E-25B5-4996-B705-32ED2F3B4B08}" type="pres">
      <dgm:prSet presAssocID="{9057DF73-ED2D-4669-8EC6-61A321702AF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62F9381F-75DF-4207-A03D-6F7A1EFE6D24}" type="pres">
      <dgm:prSet presAssocID="{9057DF73-ED2D-4669-8EC6-61A321702AF5}" presName="spaceRect" presStyleCnt="0"/>
      <dgm:spPr/>
    </dgm:pt>
    <dgm:pt modelId="{32E35198-97F9-4B08-B61B-F310CD495B17}" type="pres">
      <dgm:prSet presAssocID="{9057DF73-ED2D-4669-8EC6-61A321702AF5}" presName="textRect" presStyleLbl="revTx" presStyleIdx="1" presStyleCnt="4">
        <dgm:presLayoutVars>
          <dgm:chMax val="1"/>
          <dgm:chPref val="1"/>
        </dgm:presLayoutVars>
      </dgm:prSet>
      <dgm:spPr/>
    </dgm:pt>
    <dgm:pt modelId="{AC72AFFE-BD28-4E8E-B5C5-B9F086C52718}" type="pres">
      <dgm:prSet presAssocID="{A90EA862-CB44-4536-8968-C0350FBB94AD}" presName="sibTrans" presStyleLbl="sibTrans2D1" presStyleIdx="0" presStyleCnt="0"/>
      <dgm:spPr/>
    </dgm:pt>
    <dgm:pt modelId="{8CCED30C-73CA-4ED9-9FCA-89640271299B}" type="pres">
      <dgm:prSet presAssocID="{0BC3160F-32BE-4BEE-84A2-91932B932B5F}" presName="compNode" presStyleCnt="0"/>
      <dgm:spPr/>
    </dgm:pt>
    <dgm:pt modelId="{DB22B09A-1111-41E7-B656-B8D1F81F6266}" type="pres">
      <dgm:prSet presAssocID="{0BC3160F-32BE-4BEE-84A2-91932B932B5F}" presName="iconBgRect" presStyleLbl="bgShp" presStyleIdx="2" presStyleCnt="4"/>
      <dgm:spPr/>
    </dgm:pt>
    <dgm:pt modelId="{01052218-C882-4835-9904-4EA61C82D507}" type="pres">
      <dgm:prSet presAssocID="{0BC3160F-32BE-4BEE-84A2-91932B932B5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B6AD92BE-ADB5-4886-9008-F6CF70FFE2E1}" type="pres">
      <dgm:prSet presAssocID="{0BC3160F-32BE-4BEE-84A2-91932B932B5F}" presName="spaceRect" presStyleCnt="0"/>
      <dgm:spPr/>
    </dgm:pt>
    <dgm:pt modelId="{38C425CC-3469-4280-B5EA-2C59AEB547B9}" type="pres">
      <dgm:prSet presAssocID="{0BC3160F-32BE-4BEE-84A2-91932B932B5F}" presName="textRect" presStyleLbl="revTx" presStyleIdx="2" presStyleCnt="4">
        <dgm:presLayoutVars>
          <dgm:chMax val="1"/>
          <dgm:chPref val="1"/>
        </dgm:presLayoutVars>
      </dgm:prSet>
      <dgm:spPr/>
    </dgm:pt>
    <dgm:pt modelId="{73A4379C-B10C-4316-8F65-C3716D3C95D6}" type="pres">
      <dgm:prSet presAssocID="{212A347D-A2F1-4993-9DC1-6EBAD5A2839B}" presName="sibTrans" presStyleLbl="sibTrans2D1" presStyleIdx="0" presStyleCnt="0"/>
      <dgm:spPr/>
    </dgm:pt>
    <dgm:pt modelId="{85D8C2EF-DFA3-4416-81F2-24305AD9ED02}" type="pres">
      <dgm:prSet presAssocID="{A833C105-506D-466F-ACBA-2A24FB4E57EB}" presName="compNode" presStyleCnt="0"/>
      <dgm:spPr/>
    </dgm:pt>
    <dgm:pt modelId="{EA5B104C-A58E-4533-BBB9-C4335A9DB01E}" type="pres">
      <dgm:prSet presAssocID="{A833C105-506D-466F-ACBA-2A24FB4E57EB}" presName="iconBgRect" presStyleLbl="bgShp" presStyleIdx="3" presStyleCnt="4"/>
      <dgm:spPr/>
    </dgm:pt>
    <dgm:pt modelId="{9EDC281C-F66A-4DBB-98FF-E0CBEB642F7C}" type="pres">
      <dgm:prSet presAssocID="{A833C105-506D-466F-ACBA-2A24FB4E57E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58D8DF0-D95F-4BB0-B804-35B158FA0202}" type="pres">
      <dgm:prSet presAssocID="{A833C105-506D-466F-ACBA-2A24FB4E57EB}" presName="spaceRect" presStyleCnt="0"/>
      <dgm:spPr/>
    </dgm:pt>
    <dgm:pt modelId="{CCADD2AE-251D-4439-A181-6F8D987AE69F}" type="pres">
      <dgm:prSet presAssocID="{A833C105-506D-466F-ACBA-2A24FB4E57E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73E4418-DDA0-4A22-B45D-65B074D46E92}" type="presOf" srcId="{212A347D-A2F1-4993-9DC1-6EBAD5A2839B}" destId="{73A4379C-B10C-4316-8F65-C3716D3C95D6}" srcOrd="0" destOrd="0" presId="urn:microsoft.com/office/officeart/2018/2/layout/IconCircleList"/>
    <dgm:cxn modelId="{AE90CE2E-CDBE-4B8C-B458-2BEE8C5236C2}" srcId="{BC5DD9FD-75B9-4440-AC71-9A0611D8558D}" destId="{A833C105-506D-466F-ACBA-2A24FB4E57EB}" srcOrd="3" destOrd="0" parTransId="{18710D22-CF32-4710-A980-190CEB0A17CE}" sibTransId="{7629EDF1-6FF6-4050-9ED4-176345B4CB8B}"/>
    <dgm:cxn modelId="{F6F2D840-5CEA-42AE-AC18-2917569BAC77}" type="presOf" srcId="{A90EA862-CB44-4536-8968-C0350FBB94AD}" destId="{AC72AFFE-BD28-4E8E-B5C5-B9F086C52718}" srcOrd="0" destOrd="0" presId="urn:microsoft.com/office/officeart/2018/2/layout/IconCircleList"/>
    <dgm:cxn modelId="{223BF76D-0BFF-4A2E-B4F3-8E62B335ACA0}" type="presOf" srcId="{8B38637F-F503-47C1-A2FC-0348A36921C1}" destId="{F5DD537C-EC07-487E-9B45-079FCABAE5DB}" srcOrd="0" destOrd="0" presId="urn:microsoft.com/office/officeart/2018/2/layout/IconCircleList"/>
    <dgm:cxn modelId="{9A82F575-955A-4405-AF2C-B1001275E6F1}" type="presOf" srcId="{A833C105-506D-466F-ACBA-2A24FB4E57EB}" destId="{CCADD2AE-251D-4439-A181-6F8D987AE69F}" srcOrd="0" destOrd="0" presId="urn:microsoft.com/office/officeart/2018/2/layout/IconCircleList"/>
    <dgm:cxn modelId="{9F6EA1A6-C67B-4E95-AC04-04AF0A3B4D7D}" type="presOf" srcId="{DB5C19D6-25A1-457D-8E38-3E93A408A393}" destId="{FD4CB2C7-E2BE-4D9C-95FE-4A1006363E6B}" srcOrd="0" destOrd="0" presId="urn:microsoft.com/office/officeart/2018/2/layout/IconCircleList"/>
    <dgm:cxn modelId="{5EC795B5-ED88-4777-9FEA-FB6D52DD5D9E}" type="presOf" srcId="{0BC3160F-32BE-4BEE-84A2-91932B932B5F}" destId="{38C425CC-3469-4280-B5EA-2C59AEB547B9}" srcOrd="0" destOrd="0" presId="urn:microsoft.com/office/officeart/2018/2/layout/IconCircleList"/>
    <dgm:cxn modelId="{53D611C4-9DBF-4AA0-9455-81C5E5D3A70E}" srcId="{BC5DD9FD-75B9-4440-AC71-9A0611D8558D}" destId="{9057DF73-ED2D-4669-8EC6-61A321702AF5}" srcOrd="1" destOrd="0" parTransId="{347169E4-5B9C-408F-BA5E-49F12FBC22A2}" sibTransId="{A90EA862-CB44-4536-8968-C0350FBB94AD}"/>
    <dgm:cxn modelId="{B51A67DE-45A1-420D-BE6A-83DFB4C75913}" srcId="{BC5DD9FD-75B9-4440-AC71-9A0611D8558D}" destId="{DB5C19D6-25A1-457D-8E38-3E93A408A393}" srcOrd="0" destOrd="0" parTransId="{FD205740-466C-45B7-8122-496D3210A199}" sibTransId="{8B38637F-F503-47C1-A2FC-0348A36921C1}"/>
    <dgm:cxn modelId="{4FE05BE6-BF12-4A03-B418-A003C64D76DF}" type="presOf" srcId="{9057DF73-ED2D-4669-8EC6-61A321702AF5}" destId="{32E35198-97F9-4B08-B61B-F310CD495B17}" srcOrd="0" destOrd="0" presId="urn:microsoft.com/office/officeart/2018/2/layout/IconCircleList"/>
    <dgm:cxn modelId="{3E89B9EF-92E0-4F1F-A1A8-633DA018E6FD}" type="presOf" srcId="{BC5DD9FD-75B9-4440-AC71-9A0611D8558D}" destId="{891A1AB7-E34E-440F-BEFF-47F82C41C942}" srcOrd="0" destOrd="0" presId="urn:microsoft.com/office/officeart/2018/2/layout/IconCircleList"/>
    <dgm:cxn modelId="{D170C5F3-3069-4B89-B4CC-D5F3C7ED4DE5}" srcId="{BC5DD9FD-75B9-4440-AC71-9A0611D8558D}" destId="{0BC3160F-32BE-4BEE-84A2-91932B932B5F}" srcOrd="2" destOrd="0" parTransId="{5A2232D7-8016-4977-AAB4-E57E9622AEBC}" sibTransId="{212A347D-A2F1-4993-9DC1-6EBAD5A2839B}"/>
    <dgm:cxn modelId="{BD29B1C4-045B-4973-A409-38908B1B66FB}" type="presParOf" srcId="{891A1AB7-E34E-440F-BEFF-47F82C41C942}" destId="{ED2D9F5D-49AB-45D3-B84E-44CB9119C4CA}" srcOrd="0" destOrd="0" presId="urn:microsoft.com/office/officeart/2018/2/layout/IconCircleList"/>
    <dgm:cxn modelId="{7DFA6876-1445-4D6B-95EB-C6AB402A96A3}" type="presParOf" srcId="{ED2D9F5D-49AB-45D3-B84E-44CB9119C4CA}" destId="{82BF2702-A1C8-4ECB-BD64-BD1AD4479DAF}" srcOrd="0" destOrd="0" presId="urn:microsoft.com/office/officeart/2018/2/layout/IconCircleList"/>
    <dgm:cxn modelId="{F458B360-FB63-4FEF-9CDD-A80FDDBD7C7D}" type="presParOf" srcId="{82BF2702-A1C8-4ECB-BD64-BD1AD4479DAF}" destId="{7556A9AA-625C-4D74-9E5E-F16A85767E1C}" srcOrd="0" destOrd="0" presId="urn:microsoft.com/office/officeart/2018/2/layout/IconCircleList"/>
    <dgm:cxn modelId="{37F2C6CF-1122-4FF6-8353-4E5DA95BE634}" type="presParOf" srcId="{82BF2702-A1C8-4ECB-BD64-BD1AD4479DAF}" destId="{36E314B0-81E4-4DEE-B168-EFD9C17CEFEC}" srcOrd="1" destOrd="0" presId="urn:microsoft.com/office/officeart/2018/2/layout/IconCircleList"/>
    <dgm:cxn modelId="{169079A8-8EE4-4F1B-B322-720C28B95799}" type="presParOf" srcId="{82BF2702-A1C8-4ECB-BD64-BD1AD4479DAF}" destId="{BF50FDDE-240A-4A44-84C6-DE19A1203368}" srcOrd="2" destOrd="0" presId="urn:microsoft.com/office/officeart/2018/2/layout/IconCircleList"/>
    <dgm:cxn modelId="{8030216B-0286-4609-8374-A7DBCC4DB6BE}" type="presParOf" srcId="{82BF2702-A1C8-4ECB-BD64-BD1AD4479DAF}" destId="{FD4CB2C7-E2BE-4D9C-95FE-4A1006363E6B}" srcOrd="3" destOrd="0" presId="urn:microsoft.com/office/officeart/2018/2/layout/IconCircleList"/>
    <dgm:cxn modelId="{F7493A7C-6AD7-4823-A400-33236C7EC569}" type="presParOf" srcId="{ED2D9F5D-49AB-45D3-B84E-44CB9119C4CA}" destId="{F5DD537C-EC07-487E-9B45-079FCABAE5DB}" srcOrd="1" destOrd="0" presId="urn:microsoft.com/office/officeart/2018/2/layout/IconCircleList"/>
    <dgm:cxn modelId="{62E85D81-B6B6-40AC-ABD7-413E57211B84}" type="presParOf" srcId="{ED2D9F5D-49AB-45D3-B84E-44CB9119C4CA}" destId="{2445F0F2-15B1-459B-9EAC-772F1F9352F6}" srcOrd="2" destOrd="0" presId="urn:microsoft.com/office/officeart/2018/2/layout/IconCircleList"/>
    <dgm:cxn modelId="{2B66DCF2-949C-441F-8B6C-E6FF9E5AF8C0}" type="presParOf" srcId="{2445F0F2-15B1-459B-9EAC-772F1F9352F6}" destId="{F547A1BE-3454-499B-B6B5-632C6F91A0EB}" srcOrd="0" destOrd="0" presId="urn:microsoft.com/office/officeart/2018/2/layout/IconCircleList"/>
    <dgm:cxn modelId="{EBD7DDE8-5FF0-453B-854F-1EAEBD127A3B}" type="presParOf" srcId="{2445F0F2-15B1-459B-9EAC-772F1F9352F6}" destId="{ABBADC3E-25B5-4996-B705-32ED2F3B4B08}" srcOrd="1" destOrd="0" presId="urn:microsoft.com/office/officeart/2018/2/layout/IconCircleList"/>
    <dgm:cxn modelId="{2661A81F-88B3-4B6D-B371-E655BE9936EA}" type="presParOf" srcId="{2445F0F2-15B1-459B-9EAC-772F1F9352F6}" destId="{62F9381F-75DF-4207-A03D-6F7A1EFE6D24}" srcOrd="2" destOrd="0" presId="urn:microsoft.com/office/officeart/2018/2/layout/IconCircleList"/>
    <dgm:cxn modelId="{C7E935CB-29EE-4518-ACB1-A67911346BFB}" type="presParOf" srcId="{2445F0F2-15B1-459B-9EAC-772F1F9352F6}" destId="{32E35198-97F9-4B08-B61B-F310CD495B17}" srcOrd="3" destOrd="0" presId="urn:microsoft.com/office/officeart/2018/2/layout/IconCircleList"/>
    <dgm:cxn modelId="{9EB05E5C-850C-412F-A4EE-4003237E3D16}" type="presParOf" srcId="{ED2D9F5D-49AB-45D3-B84E-44CB9119C4CA}" destId="{AC72AFFE-BD28-4E8E-B5C5-B9F086C52718}" srcOrd="3" destOrd="0" presId="urn:microsoft.com/office/officeart/2018/2/layout/IconCircleList"/>
    <dgm:cxn modelId="{50B99F3C-C819-4877-86B0-6118DF4D97AC}" type="presParOf" srcId="{ED2D9F5D-49AB-45D3-B84E-44CB9119C4CA}" destId="{8CCED30C-73CA-4ED9-9FCA-89640271299B}" srcOrd="4" destOrd="0" presId="urn:microsoft.com/office/officeart/2018/2/layout/IconCircleList"/>
    <dgm:cxn modelId="{3DCA1743-B41F-4AC1-8FD1-6E8088A80520}" type="presParOf" srcId="{8CCED30C-73CA-4ED9-9FCA-89640271299B}" destId="{DB22B09A-1111-41E7-B656-B8D1F81F6266}" srcOrd="0" destOrd="0" presId="urn:microsoft.com/office/officeart/2018/2/layout/IconCircleList"/>
    <dgm:cxn modelId="{CFE02E06-548B-4FDA-9A3D-D32D2BB87CF6}" type="presParOf" srcId="{8CCED30C-73CA-4ED9-9FCA-89640271299B}" destId="{01052218-C882-4835-9904-4EA61C82D507}" srcOrd="1" destOrd="0" presId="urn:microsoft.com/office/officeart/2018/2/layout/IconCircleList"/>
    <dgm:cxn modelId="{CF9EC58B-919A-489C-98EF-6DCF0B6BAFFF}" type="presParOf" srcId="{8CCED30C-73CA-4ED9-9FCA-89640271299B}" destId="{B6AD92BE-ADB5-4886-9008-F6CF70FFE2E1}" srcOrd="2" destOrd="0" presId="urn:microsoft.com/office/officeart/2018/2/layout/IconCircleList"/>
    <dgm:cxn modelId="{95FDD1C6-7D3D-47B1-AB89-ABF3F3F626FD}" type="presParOf" srcId="{8CCED30C-73CA-4ED9-9FCA-89640271299B}" destId="{38C425CC-3469-4280-B5EA-2C59AEB547B9}" srcOrd="3" destOrd="0" presId="urn:microsoft.com/office/officeart/2018/2/layout/IconCircleList"/>
    <dgm:cxn modelId="{66C798E0-647E-409F-B4D1-5A6B3F14A30B}" type="presParOf" srcId="{ED2D9F5D-49AB-45D3-B84E-44CB9119C4CA}" destId="{73A4379C-B10C-4316-8F65-C3716D3C95D6}" srcOrd="5" destOrd="0" presId="urn:microsoft.com/office/officeart/2018/2/layout/IconCircleList"/>
    <dgm:cxn modelId="{0C20A6E1-1317-4D37-81EA-34A5D77684AF}" type="presParOf" srcId="{ED2D9F5D-49AB-45D3-B84E-44CB9119C4CA}" destId="{85D8C2EF-DFA3-4416-81F2-24305AD9ED02}" srcOrd="6" destOrd="0" presId="urn:microsoft.com/office/officeart/2018/2/layout/IconCircleList"/>
    <dgm:cxn modelId="{DDD33184-267F-4487-AC87-F4CD4ECF8313}" type="presParOf" srcId="{85D8C2EF-DFA3-4416-81F2-24305AD9ED02}" destId="{EA5B104C-A58E-4533-BBB9-C4335A9DB01E}" srcOrd="0" destOrd="0" presId="urn:microsoft.com/office/officeart/2018/2/layout/IconCircleList"/>
    <dgm:cxn modelId="{A3A92638-ED25-4568-A063-881EE1A6DC1B}" type="presParOf" srcId="{85D8C2EF-DFA3-4416-81F2-24305AD9ED02}" destId="{9EDC281C-F66A-4DBB-98FF-E0CBEB642F7C}" srcOrd="1" destOrd="0" presId="urn:microsoft.com/office/officeart/2018/2/layout/IconCircleList"/>
    <dgm:cxn modelId="{924E26CE-2C0E-4F05-A945-D8BCE321ACF1}" type="presParOf" srcId="{85D8C2EF-DFA3-4416-81F2-24305AD9ED02}" destId="{258D8DF0-D95F-4BB0-B804-35B158FA0202}" srcOrd="2" destOrd="0" presId="urn:microsoft.com/office/officeart/2018/2/layout/IconCircleList"/>
    <dgm:cxn modelId="{7481BFDB-B4A2-4C78-9CCA-17220F1B7936}" type="presParOf" srcId="{85D8C2EF-DFA3-4416-81F2-24305AD9ED02}" destId="{CCADD2AE-251D-4439-A181-6F8D987AE69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F74CC2-E3E2-45E8-B895-8BB0CECB069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0D272C6-6CBE-4ABD-9710-C0D2632ADB3E}">
      <dgm:prSet/>
      <dgm:spPr/>
      <dgm:t>
        <a:bodyPr/>
        <a:lstStyle/>
        <a:p>
          <a:r>
            <a:rPr lang="en-US"/>
            <a:t>• Vastranand leads with Rs 3.37M revenue</a:t>
          </a:r>
        </a:p>
      </dgm:t>
    </dgm:pt>
    <dgm:pt modelId="{869E2180-5FAB-40CB-8683-46667EC7C332}" type="parTrans" cxnId="{92BEBBAA-830A-433C-BAC6-6B5D7907F17B}">
      <dgm:prSet/>
      <dgm:spPr/>
      <dgm:t>
        <a:bodyPr/>
        <a:lstStyle/>
        <a:p>
          <a:endParaRPr lang="en-US"/>
        </a:p>
      </dgm:t>
    </dgm:pt>
    <dgm:pt modelId="{D2E9C116-7BD7-478D-BD15-C0D821A9DF4A}" type="sibTrans" cxnId="{92BEBBAA-830A-433C-BAC6-6B5D7907F17B}">
      <dgm:prSet/>
      <dgm:spPr/>
      <dgm:t>
        <a:bodyPr/>
        <a:lstStyle/>
        <a:p>
          <a:endParaRPr lang="en-US"/>
        </a:p>
      </dgm:t>
    </dgm:pt>
    <dgm:pt modelId="{8479EC84-CD47-4BAD-847B-FD556CD1610B}">
      <dgm:prSet/>
      <dgm:spPr/>
      <dgm:t>
        <a:bodyPr/>
        <a:lstStyle/>
        <a:p>
          <a:r>
            <a:rPr lang="en-US"/>
            <a:t>• Michael Kors and Fossil follow</a:t>
          </a:r>
        </a:p>
      </dgm:t>
    </dgm:pt>
    <dgm:pt modelId="{7C14BB39-5CCD-44B6-AB4E-20D399EFFC17}" type="parTrans" cxnId="{CEA0E4D4-0648-4707-B6A0-AB15C80C4768}">
      <dgm:prSet/>
      <dgm:spPr/>
      <dgm:t>
        <a:bodyPr/>
        <a:lstStyle/>
        <a:p>
          <a:endParaRPr lang="en-US"/>
        </a:p>
      </dgm:t>
    </dgm:pt>
    <dgm:pt modelId="{C449ADB9-C6CE-490E-8028-25C60C6897E9}" type="sibTrans" cxnId="{CEA0E4D4-0648-4707-B6A0-AB15C80C4768}">
      <dgm:prSet/>
      <dgm:spPr/>
      <dgm:t>
        <a:bodyPr/>
        <a:lstStyle/>
        <a:p>
          <a:endParaRPr lang="en-US"/>
        </a:p>
      </dgm:t>
    </dgm:pt>
    <dgm:pt modelId="{79B19985-08A0-4BC4-9A6B-551F66480422}">
      <dgm:prSet/>
      <dgm:spPr/>
      <dgm:t>
        <a:bodyPr/>
        <a:lstStyle/>
        <a:p>
          <a:r>
            <a:rPr lang="en-US"/>
            <a:t>• Revenue highly concentrated among top brands</a:t>
          </a:r>
        </a:p>
      </dgm:t>
    </dgm:pt>
    <dgm:pt modelId="{0EE495EB-BCF2-4906-A097-2334AAF868DD}" type="parTrans" cxnId="{5B34DF20-1405-4023-A300-B15F7A54C467}">
      <dgm:prSet/>
      <dgm:spPr/>
      <dgm:t>
        <a:bodyPr/>
        <a:lstStyle/>
        <a:p>
          <a:endParaRPr lang="en-US"/>
        </a:p>
      </dgm:t>
    </dgm:pt>
    <dgm:pt modelId="{B7956235-2E12-4874-B2C4-FF5F03B03DF2}" type="sibTrans" cxnId="{5B34DF20-1405-4023-A300-B15F7A54C467}">
      <dgm:prSet/>
      <dgm:spPr/>
      <dgm:t>
        <a:bodyPr/>
        <a:lstStyle/>
        <a:p>
          <a:endParaRPr lang="en-US"/>
        </a:p>
      </dgm:t>
    </dgm:pt>
    <dgm:pt modelId="{428360F5-DAE2-4408-8522-D2E235C819F4}" type="pres">
      <dgm:prSet presAssocID="{B7F74CC2-E3E2-45E8-B895-8BB0CECB069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FBAFDEF-55E0-47AA-9018-1D1272CBC7AC}" type="pres">
      <dgm:prSet presAssocID="{20D272C6-6CBE-4ABD-9710-C0D2632ADB3E}" presName="hierRoot1" presStyleCnt="0"/>
      <dgm:spPr/>
    </dgm:pt>
    <dgm:pt modelId="{C0E783A7-A6C4-4BF7-ABC4-91B6D22D3FDB}" type="pres">
      <dgm:prSet presAssocID="{20D272C6-6CBE-4ABD-9710-C0D2632ADB3E}" presName="composite" presStyleCnt="0"/>
      <dgm:spPr/>
    </dgm:pt>
    <dgm:pt modelId="{9CA92C78-7C65-40ED-A142-AD98B29CA584}" type="pres">
      <dgm:prSet presAssocID="{20D272C6-6CBE-4ABD-9710-C0D2632ADB3E}" presName="background" presStyleLbl="node0" presStyleIdx="0" presStyleCnt="3"/>
      <dgm:spPr>
        <a:solidFill>
          <a:srgbClr val="92278F"/>
        </a:solidFill>
      </dgm:spPr>
    </dgm:pt>
    <dgm:pt modelId="{9E281925-703E-4579-80E9-17130EC4488D}" type="pres">
      <dgm:prSet presAssocID="{20D272C6-6CBE-4ABD-9710-C0D2632ADB3E}" presName="text" presStyleLbl="fgAcc0" presStyleIdx="0" presStyleCnt="3">
        <dgm:presLayoutVars>
          <dgm:chPref val="3"/>
        </dgm:presLayoutVars>
      </dgm:prSet>
      <dgm:spPr/>
    </dgm:pt>
    <dgm:pt modelId="{670987AD-638D-47D8-B01F-6BD1FC95CBD5}" type="pres">
      <dgm:prSet presAssocID="{20D272C6-6CBE-4ABD-9710-C0D2632ADB3E}" presName="hierChild2" presStyleCnt="0"/>
      <dgm:spPr/>
    </dgm:pt>
    <dgm:pt modelId="{328F499B-DDB9-4989-8DFC-9BF8B86D6B52}" type="pres">
      <dgm:prSet presAssocID="{8479EC84-CD47-4BAD-847B-FD556CD1610B}" presName="hierRoot1" presStyleCnt="0"/>
      <dgm:spPr/>
    </dgm:pt>
    <dgm:pt modelId="{E87AB42A-1857-4818-9496-0CF0D2F7882E}" type="pres">
      <dgm:prSet presAssocID="{8479EC84-CD47-4BAD-847B-FD556CD1610B}" presName="composite" presStyleCnt="0"/>
      <dgm:spPr/>
    </dgm:pt>
    <dgm:pt modelId="{BAEBC752-3084-41D4-AA06-05214828A881}" type="pres">
      <dgm:prSet presAssocID="{8479EC84-CD47-4BAD-847B-FD556CD1610B}" presName="background" presStyleLbl="node0" presStyleIdx="1" presStyleCnt="3"/>
      <dgm:spPr>
        <a:solidFill>
          <a:srgbClr val="92278F"/>
        </a:solidFill>
      </dgm:spPr>
    </dgm:pt>
    <dgm:pt modelId="{A403108F-A6C2-49FE-843C-208FEBF975C2}" type="pres">
      <dgm:prSet presAssocID="{8479EC84-CD47-4BAD-847B-FD556CD1610B}" presName="text" presStyleLbl="fgAcc0" presStyleIdx="1" presStyleCnt="3">
        <dgm:presLayoutVars>
          <dgm:chPref val="3"/>
        </dgm:presLayoutVars>
      </dgm:prSet>
      <dgm:spPr/>
    </dgm:pt>
    <dgm:pt modelId="{E57DBA7A-FDBF-4362-A38B-970C6D9BC36F}" type="pres">
      <dgm:prSet presAssocID="{8479EC84-CD47-4BAD-847B-FD556CD1610B}" presName="hierChild2" presStyleCnt="0"/>
      <dgm:spPr/>
    </dgm:pt>
    <dgm:pt modelId="{E4767E95-C64E-4223-9E30-47D8E8A14043}" type="pres">
      <dgm:prSet presAssocID="{79B19985-08A0-4BC4-9A6B-551F66480422}" presName="hierRoot1" presStyleCnt="0"/>
      <dgm:spPr/>
    </dgm:pt>
    <dgm:pt modelId="{77E14A37-E1A8-4FA5-A998-D76699B21ED5}" type="pres">
      <dgm:prSet presAssocID="{79B19985-08A0-4BC4-9A6B-551F66480422}" presName="composite" presStyleCnt="0"/>
      <dgm:spPr/>
    </dgm:pt>
    <dgm:pt modelId="{DF12BB80-A491-4E32-A823-8DE99A966BE6}" type="pres">
      <dgm:prSet presAssocID="{79B19985-08A0-4BC4-9A6B-551F66480422}" presName="background" presStyleLbl="node0" presStyleIdx="2" presStyleCnt="3"/>
      <dgm:spPr>
        <a:solidFill>
          <a:srgbClr val="92278F"/>
        </a:solidFill>
      </dgm:spPr>
    </dgm:pt>
    <dgm:pt modelId="{88225B91-A5B7-47A0-97C2-B136CD4C6AAC}" type="pres">
      <dgm:prSet presAssocID="{79B19985-08A0-4BC4-9A6B-551F66480422}" presName="text" presStyleLbl="fgAcc0" presStyleIdx="2" presStyleCnt="3">
        <dgm:presLayoutVars>
          <dgm:chPref val="3"/>
        </dgm:presLayoutVars>
      </dgm:prSet>
      <dgm:spPr/>
    </dgm:pt>
    <dgm:pt modelId="{820D20F8-93AC-48CE-897D-5351A55B6D29}" type="pres">
      <dgm:prSet presAssocID="{79B19985-08A0-4BC4-9A6B-551F66480422}" presName="hierChild2" presStyleCnt="0"/>
      <dgm:spPr/>
    </dgm:pt>
  </dgm:ptLst>
  <dgm:cxnLst>
    <dgm:cxn modelId="{DBA37C06-429F-46A6-8684-A0ED9CE3A0A7}" type="presOf" srcId="{8479EC84-CD47-4BAD-847B-FD556CD1610B}" destId="{A403108F-A6C2-49FE-843C-208FEBF975C2}" srcOrd="0" destOrd="0" presId="urn:microsoft.com/office/officeart/2005/8/layout/hierarchy1"/>
    <dgm:cxn modelId="{FC00871B-F3E0-4028-A472-1088C8776CC9}" type="presOf" srcId="{B7F74CC2-E3E2-45E8-B895-8BB0CECB0699}" destId="{428360F5-DAE2-4408-8522-D2E235C819F4}" srcOrd="0" destOrd="0" presId="urn:microsoft.com/office/officeart/2005/8/layout/hierarchy1"/>
    <dgm:cxn modelId="{5B34DF20-1405-4023-A300-B15F7A54C467}" srcId="{B7F74CC2-E3E2-45E8-B895-8BB0CECB0699}" destId="{79B19985-08A0-4BC4-9A6B-551F66480422}" srcOrd="2" destOrd="0" parTransId="{0EE495EB-BCF2-4906-A097-2334AAF868DD}" sibTransId="{B7956235-2E12-4874-B2C4-FF5F03B03DF2}"/>
    <dgm:cxn modelId="{8C7E727F-6C19-45C9-83D4-D9A45326A853}" type="presOf" srcId="{79B19985-08A0-4BC4-9A6B-551F66480422}" destId="{88225B91-A5B7-47A0-97C2-B136CD4C6AAC}" srcOrd="0" destOrd="0" presId="urn:microsoft.com/office/officeart/2005/8/layout/hierarchy1"/>
    <dgm:cxn modelId="{92BEBBAA-830A-433C-BAC6-6B5D7907F17B}" srcId="{B7F74CC2-E3E2-45E8-B895-8BB0CECB0699}" destId="{20D272C6-6CBE-4ABD-9710-C0D2632ADB3E}" srcOrd="0" destOrd="0" parTransId="{869E2180-5FAB-40CB-8683-46667EC7C332}" sibTransId="{D2E9C116-7BD7-478D-BD15-C0D821A9DF4A}"/>
    <dgm:cxn modelId="{EDB57CAE-F109-4E84-B0D0-A9EA9321AB2A}" type="presOf" srcId="{20D272C6-6CBE-4ABD-9710-C0D2632ADB3E}" destId="{9E281925-703E-4579-80E9-17130EC4488D}" srcOrd="0" destOrd="0" presId="urn:microsoft.com/office/officeart/2005/8/layout/hierarchy1"/>
    <dgm:cxn modelId="{CEA0E4D4-0648-4707-B6A0-AB15C80C4768}" srcId="{B7F74CC2-E3E2-45E8-B895-8BB0CECB0699}" destId="{8479EC84-CD47-4BAD-847B-FD556CD1610B}" srcOrd="1" destOrd="0" parTransId="{7C14BB39-5CCD-44B6-AB4E-20D399EFFC17}" sibTransId="{C449ADB9-C6CE-490E-8028-25C60C6897E9}"/>
    <dgm:cxn modelId="{75FCE3E7-08CE-4D80-838F-249BE27C88C7}" type="presParOf" srcId="{428360F5-DAE2-4408-8522-D2E235C819F4}" destId="{3FBAFDEF-55E0-47AA-9018-1D1272CBC7AC}" srcOrd="0" destOrd="0" presId="urn:microsoft.com/office/officeart/2005/8/layout/hierarchy1"/>
    <dgm:cxn modelId="{810DFA09-9A63-49B0-B316-6E25DF8CCF91}" type="presParOf" srcId="{3FBAFDEF-55E0-47AA-9018-1D1272CBC7AC}" destId="{C0E783A7-A6C4-4BF7-ABC4-91B6D22D3FDB}" srcOrd="0" destOrd="0" presId="urn:microsoft.com/office/officeart/2005/8/layout/hierarchy1"/>
    <dgm:cxn modelId="{B89A74A9-29F4-4ECA-8994-B7BC900B4288}" type="presParOf" srcId="{C0E783A7-A6C4-4BF7-ABC4-91B6D22D3FDB}" destId="{9CA92C78-7C65-40ED-A142-AD98B29CA584}" srcOrd="0" destOrd="0" presId="urn:microsoft.com/office/officeart/2005/8/layout/hierarchy1"/>
    <dgm:cxn modelId="{74407C8E-9CF3-48ED-B15C-A967A918A8C7}" type="presParOf" srcId="{C0E783A7-A6C4-4BF7-ABC4-91B6D22D3FDB}" destId="{9E281925-703E-4579-80E9-17130EC4488D}" srcOrd="1" destOrd="0" presId="urn:microsoft.com/office/officeart/2005/8/layout/hierarchy1"/>
    <dgm:cxn modelId="{7D8ABED0-9F6B-4F69-BFC5-348034826A7C}" type="presParOf" srcId="{3FBAFDEF-55E0-47AA-9018-1D1272CBC7AC}" destId="{670987AD-638D-47D8-B01F-6BD1FC95CBD5}" srcOrd="1" destOrd="0" presId="urn:microsoft.com/office/officeart/2005/8/layout/hierarchy1"/>
    <dgm:cxn modelId="{AD706369-3E9B-4CDA-9827-4055597B6CDB}" type="presParOf" srcId="{428360F5-DAE2-4408-8522-D2E235C819F4}" destId="{328F499B-DDB9-4989-8DFC-9BF8B86D6B52}" srcOrd="1" destOrd="0" presId="urn:microsoft.com/office/officeart/2005/8/layout/hierarchy1"/>
    <dgm:cxn modelId="{FE8700F3-85CD-408A-9599-A38AE76508D2}" type="presParOf" srcId="{328F499B-DDB9-4989-8DFC-9BF8B86D6B52}" destId="{E87AB42A-1857-4818-9496-0CF0D2F7882E}" srcOrd="0" destOrd="0" presId="urn:microsoft.com/office/officeart/2005/8/layout/hierarchy1"/>
    <dgm:cxn modelId="{59192705-AF14-496D-A110-5B75BBD9D46B}" type="presParOf" srcId="{E87AB42A-1857-4818-9496-0CF0D2F7882E}" destId="{BAEBC752-3084-41D4-AA06-05214828A881}" srcOrd="0" destOrd="0" presId="urn:microsoft.com/office/officeart/2005/8/layout/hierarchy1"/>
    <dgm:cxn modelId="{36D6458B-0D78-4170-BA21-FDBABD21A741}" type="presParOf" srcId="{E87AB42A-1857-4818-9496-0CF0D2F7882E}" destId="{A403108F-A6C2-49FE-843C-208FEBF975C2}" srcOrd="1" destOrd="0" presId="urn:microsoft.com/office/officeart/2005/8/layout/hierarchy1"/>
    <dgm:cxn modelId="{BCF983CF-2178-416B-ADAD-134B5DDFF62F}" type="presParOf" srcId="{328F499B-DDB9-4989-8DFC-9BF8B86D6B52}" destId="{E57DBA7A-FDBF-4362-A38B-970C6D9BC36F}" srcOrd="1" destOrd="0" presId="urn:microsoft.com/office/officeart/2005/8/layout/hierarchy1"/>
    <dgm:cxn modelId="{602E69BD-1572-4AF5-B8FA-3F0AEAF1B8D6}" type="presParOf" srcId="{428360F5-DAE2-4408-8522-D2E235C819F4}" destId="{E4767E95-C64E-4223-9E30-47D8E8A14043}" srcOrd="2" destOrd="0" presId="urn:microsoft.com/office/officeart/2005/8/layout/hierarchy1"/>
    <dgm:cxn modelId="{4DC2CB5C-A383-4F84-B2FD-7B83EF79D7CF}" type="presParOf" srcId="{E4767E95-C64E-4223-9E30-47D8E8A14043}" destId="{77E14A37-E1A8-4FA5-A998-D76699B21ED5}" srcOrd="0" destOrd="0" presId="urn:microsoft.com/office/officeart/2005/8/layout/hierarchy1"/>
    <dgm:cxn modelId="{99F808EB-3998-4A9E-863D-F7EADCA79DCF}" type="presParOf" srcId="{77E14A37-E1A8-4FA5-A998-D76699B21ED5}" destId="{DF12BB80-A491-4E32-A823-8DE99A966BE6}" srcOrd="0" destOrd="0" presId="urn:microsoft.com/office/officeart/2005/8/layout/hierarchy1"/>
    <dgm:cxn modelId="{C2BB8FCF-C77B-491F-BBD7-B55D37899862}" type="presParOf" srcId="{77E14A37-E1A8-4FA5-A998-D76699B21ED5}" destId="{88225B91-A5B7-47A0-97C2-B136CD4C6AAC}" srcOrd="1" destOrd="0" presId="urn:microsoft.com/office/officeart/2005/8/layout/hierarchy1"/>
    <dgm:cxn modelId="{D4CB6868-346E-4CC7-83C5-FACD354245D8}" type="presParOf" srcId="{E4767E95-C64E-4223-9E30-47D8E8A14043}" destId="{820D20F8-93AC-48CE-897D-5351A55B6D2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56A9AA-625C-4D74-9E5E-F16A85767E1C}">
      <dsp:nvSpPr>
        <dsp:cNvPr id="0" name=""/>
        <dsp:cNvSpPr/>
      </dsp:nvSpPr>
      <dsp:spPr>
        <a:xfrm>
          <a:off x="131218" y="754345"/>
          <a:ext cx="1123929" cy="112392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314B0-81E4-4DEE-B168-EFD9C17CEFEC}">
      <dsp:nvSpPr>
        <dsp:cNvPr id="0" name=""/>
        <dsp:cNvSpPr/>
      </dsp:nvSpPr>
      <dsp:spPr>
        <a:xfrm>
          <a:off x="367243" y="990370"/>
          <a:ext cx="651878" cy="6518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CB2C7-E2BE-4D9C-95FE-4A1006363E6B}">
      <dsp:nvSpPr>
        <dsp:cNvPr id="0" name=""/>
        <dsp:cNvSpPr/>
      </dsp:nvSpPr>
      <dsp:spPr>
        <a:xfrm>
          <a:off x="1495989" y="754345"/>
          <a:ext cx="2649261" cy="1123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• 29,575 orders across 274 brands</a:t>
          </a:r>
        </a:p>
      </dsp:txBody>
      <dsp:txXfrm>
        <a:off x="1495989" y="754345"/>
        <a:ext cx="2649261" cy="1123929"/>
      </dsp:txXfrm>
    </dsp:sp>
    <dsp:sp modelId="{F547A1BE-3454-499B-B6B5-632C6F91A0EB}">
      <dsp:nvSpPr>
        <dsp:cNvPr id="0" name=""/>
        <dsp:cNvSpPr/>
      </dsp:nvSpPr>
      <dsp:spPr>
        <a:xfrm>
          <a:off x="4606864" y="754345"/>
          <a:ext cx="1123929" cy="112392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BADC3E-25B5-4996-B705-32ED2F3B4B08}">
      <dsp:nvSpPr>
        <dsp:cNvPr id="0" name=""/>
        <dsp:cNvSpPr/>
      </dsp:nvSpPr>
      <dsp:spPr>
        <a:xfrm>
          <a:off x="4842889" y="990370"/>
          <a:ext cx="651878" cy="6518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E35198-97F9-4B08-B61B-F310CD495B17}">
      <dsp:nvSpPr>
        <dsp:cNvPr id="0" name=""/>
        <dsp:cNvSpPr/>
      </dsp:nvSpPr>
      <dsp:spPr>
        <a:xfrm>
          <a:off x="5971635" y="754345"/>
          <a:ext cx="2649261" cy="1123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•Strong sales performance with Rs 56.9M revenue</a:t>
          </a:r>
        </a:p>
      </dsp:txBody>
      <dsp:txXfrm>
        <a:off x="5971635" y="754345"/>
        <a:ext cx="2649261" cy="1123929"/>
      </dsp:txXfrm>
    </dsp:sp>
    <dsp:sp modelId="{DB22B09A-1111-41E7-B656-B8D1F81F6266}">
      <dsp:nvSpPr>
        <dsp:cNvPr id="0" name=""/>
        <dsp:cNvSpPr/>
      </dsp:nvSpPr>
      <dsp:spPr>
        <a:xfrm>
          <a:off x="131218" y="2647688"/>
          <a:ext cx="1123929" cy="112392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52218-C882-4835-9904-4EA61C82D507}">
      <dsp:nvSpPr>
        <dsp:cNvPr id="0" name=""/>
        <dsp:cNvSpPr/>
      </dsp:nvSpPr>
      <dsp:spPr>
        <a:xfrm>
          <a:off x="367243" y="2883713"/>
          <a:ext cx="651878" cy="6518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C425CC-3469-4280-B5EA-2C59AEB547B9}">
      <dsp:nvSpPr>
        <dsp:cNvPr id="0" name=""/>
        <dsp:cNvSpPr/>
      </dsp:nvSpPr>
      <dsp:spPr>
        <a:xfrm>
          <a:off x="1495989" y="2647688"/>
          <a:ext cx="2649261" cy="1123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Revenue driven by few high-performing brands</a:t>
          </a:r>
        </a:p>
      </dsp:txBody>
      <dsp:txXfrm>
        <a:off x="1495989" y="2647688"/>
        <a:ext cx="2649261" cy="1123929"/>
      </dsp:txXfrm>
    </dsp:sp>
    <dsp:sp modelId="{EA5B104C-A58E-4533-BBB9-C4335A9DB01E}">
      <dsp:nvSpPr>
        <dsp:cNvPr id="0" name=""/>
        <dsp:cNvSpPr/>
      </dsp:nvSpPr>
      <dsp:spPr>
        <a:xfrm>
          <a:off x="4606864" y="2647688"/>
          <a:ext cx="1123929" cy="112392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DC281C-F66A-4DBB-98FF-E0CBEB642F7C}">
      <dsp:nvSpPr>
        <dsp:cNvPr id="0" name=""/>
        <dsp:cNvSpPr/>
      </dsp:nvSpPr>
      <dsp:spPr>
        <a:xfrm>
          <a:off x="4842889" y="2883713"/>
          <a:ext cx="651878" cy="6518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DD2AE-251D-4439-A181-6F8D987AE69F}">
      <dsp:nvSpPr>
        <dsp:cNvPr id="0" name=""/>
        <dsp:cNvSpPr/>
      </dsp:nvSpPr>
      <dsp:spPr>
        <a:xfrm>
          <a:off x="5971635" y="2647688"/>
          <a:ext cx="2649261" cy="1123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Discount-heavy categories impact profitability</a:t>
          </a:r>
        </a:p>
      </dsp:txBody>
      <dsp:txXfrm>
        <a:off x="5971635" y="2647688"/>
        <a:ext cx="2649261" cy="11239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A92C78-7C65-40ED-A142-AD98B29CA584}">
      <dsp:nvSpPr>
        <dsp:cNvPr id="0" name=""/>
        <dsp:cNvSpPr/>
      </dsp:nvSpPr>
      <dsp:spPr>
        <a:xfrm>
          <a:off x="0" y="1405945"/>
          <a:ext cx="2314575" cy="1469755"/>
        </a:xfrm>
        <a:prstGeom prst="roundRect">
          <a:avLst>
            <a:gd name="adj" fmla="val 10000"/>
          </a:avLst>
        </a:prstGeom>
        <a:solidFill>
          <a:srgbClr val="92278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281925-703E-4579-80E9-17130EC4488D}">
      <dsp:nvSpPr>
        <dsp:cNvPr id="0" name=""/>
        <dsp:cNvSpPr/>
      </dsp:nvSpPr>
      <dsp:spPr>
        <a:xfrm>
          <a:off x="257174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Vastranand leads with Rs 3.37M revenue</a:t>
          </a:r>
        </a:p>
      </dsp:txBody>
      <dsp:txXfrm>
        <a:off x="300222" y="1693310"/>
        <a:ext cx="2228479" cy="1383659"/>
      </dsp:txXfrm>
    </dsp:sp>
    <dsp:sp modelId="{BAEBC752-3084-41D4-AA06-05214828A881}">
      <dsp:nvSpPr>
        <dsp:cNvPr id="0" name=""/>
        <dsp:cNvSpPr/>
      </dsp:nvSpPr>
      <dsp:spPr>
        <a:xfrm>
          <a:off x="2828924" y="1405945"/>
          <a:ext cx="2314575" cy="1469755"/>
        </a:xfrm>
        <a:prstGeom prst="roundRect">
          <a:avLst>
            <a:gd name="adj" fmla="val 10000"/>
          </a:avLst>
        </a:prstGeom>
        <a:solidFill>
          <a:srgbClr val="92278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03108F-A6C2-49FE-843C-208FEBF975C2}">
      <dsp:nvSpPr>
        <dsp:cNvPr id="0" name=""/>
        <dsp:cNvSpPr/>
      </dsp:nvSpPr>
      <dsp:spPr>
        <a:xfrm>
          <a:off x="3086099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Michael Kors and Fossil follow</a:t>
          </a:r>
        </a:p>
      </dsp:txBody>
      <dsp:txXfrm>
        <a:off x="3129147" y="1693310"/>
        <a:ext cx="2228479" cy="1383659"/>
      </dsp:txXfrm>
    </dsp:sp>
    <dsp:sp modelId="{DF12BB80-A491-4E32-A823-8DE99A966BE6}">
      <dsp:nvSpPr>
        <dsp:cNvPr id="0" name=""/>
        <dsp:cNvSpPr/>
      </dsp:nvSpPr>
      <dsp:spPr>
        <a:xfrm>
          <a:off x="5657850" y="1405945"/>
          <a:ext cx="2314575" cy="1469755"/>
        </a:xfrm>
        <a:prstGeom prst="roundRect">
          <a:avLst>
            <a:gd name="adj" fmla="val 10000"/>
          </a:avLst>
        </a:prstGeom>
        <a:solidFill>
          <a:srgbClr val="92278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225B91-A5B7-47A0-97C2-B136CD4C6AAC}">
      <dsp:nvSpPr>
        <dsp:cNvPr id="0" name=""/>
        <dsp:cNvSpPr/>
      </dsp:nvSpPr>
      <dsp:spPr>
        <a:xfrm>
          <a:off x="5915024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Revenue highly concentrated among top brands</a:t>
          </a:r>
        </a:p>
      </dsp:txBody>
      <dsp:txXfrm>
        <a:off x="5958072" y="1693310"/>
        <a:ext cx="2228479" cy="13836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1261423"/>
            <a:ext cx="7372350" cy="1325880"/>
          </a:xfrm>
        </p:spPr>
        <p:txBody>
          <a:bodyPr anchor="b">
            <a:normAutofit/>
          </a:bodyPr>
          <a:lstStyle/>
          <a:p>
            <a:r>
              <a:rPr lang="en-US" sz="3100" b="1" dirty="0">
                <a:solidFill>
                  <a:schemeClr val="tx2"/>
                </a:solidFill>
              </a:rPr>
              <a:t>Sales Analysis of a Fashion Store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827419"/>
            <a:ext cx="3845172" cy="3227626"/>
          </a:xfrm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Portfolio Case Study</a:t>
            </a:r>
          </a:p>
          <a:p>
            <a:r>
              <a:rPr lang="en-US" sz="1600">
                <a:solidFill>
                  <a:schemeClr val="tx2"/>
                </a:solidFill>
              </a:rPr>
              <a:t>Sales Performance &amp; Business Insights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Beauty women on pose fashion logo design graphic Vector Image">
            <a:extLst>
              <a:ext uri="{FF2B5EF4-FFF2-40B4-BE49-F238E27FC236}">
                <a16:creationId xmlns:a16="http://schemas.microsoft.com/office/drawing/2014/main" id="{FF2BD654-9C97-1D79-6BCD-C536C17812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71" t="13016" r="18972" b="17936"/>
          <a:stretch/>
        </p:blipFill>
        <p:spPr bwMode="auto">
          <a:xfrm>
            <a:off x="5290170" y="2837712"/>
            <a:ext cx="2589408" cy="2997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03509-AD01-4B3C-94D0-D1F885C46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747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A0BAD-09C7-ECE2-6A7F-0D92FB9A1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069275"/>
            <a:ext cx="8178799" cy="27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421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EAAF3D-F576-CBD4-4F49-35A4B8BC39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6518013"/>
              </p:ext>
            </p:extLst>
          </p:nvPr>
        </p:nvGraphicFramePr>
        <p:xfrm>
          <a:off x="293913" y="1600200"/>
          <a:ext cx="8752115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80" y="1138265"/>
            <a:ext cx="3408571" cy="1401183"/>
          </a:xfrm>
        </p:spPr>
        <p:txBody>
          <a:bodyPr anchor="t">
            <a:normAutofit/>
          </a:bodyPr>
          <a:lstStyle/>
          <a:p>
            <a:r>
              <a:rPr lang="en-US" sz="2800"/>
              <a:t>Key Performance Metrics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6096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80" y="2551176"/>
            <a:ext cx="4000620" cy="17673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• Total Revenue: Rs 56,892,855</a:t>
            </a:r>
          </a:p>
          <a:p>
            <a:pPr marL="0" indent="0">
              <a:buNone/>
            </a:pPr>
            <a:r>
              <a:rPr lang="en-US" sz="1800" b="1" dirty="0"/>
              <a:t>• Total Orders: 29,575</a:t>
            </a:r>
          </a:p>
          <a:p>
            <a:pPr marL="0" indent="0">
              <a:buNone/>
            </a:pPr>
            <a:r>
              <a:rPr lang="en-US" sz="1800" b="1" dirty="0"/>
              <a:t>• Average Selling Price: Rs 1,923.68</a:t>
            </a:r>
          </a:p>
          <a:p>
            <a:pPr marL="0" indent="0">
              <a:buNone/>
            </a:pPr>
            <a:r>
              <a:rPr lang="en-US" sz="1800" b="1" dirty="0"/>
              <a:t>• Active Brands: 274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7292B149-8A98-A0FC-B793-4836A22627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10" r="34776"/>
          <a:stretch>
            <a:fillRect/>
          </a:stretch>
        </p:blipFill>
        <p:spPr>
          <a:xfrm>
            <a:off x="4788327" y="771753"/>
            <a:ext cx="3548088" cy="53160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Top Revenue-Generating Brands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2B99EA-1F92-25BE-E23D-25159C6AE1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876228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0522" y="27826"/>
            <a:ext cx="4351438" cy="2228760"/>
          </a:xfrm>
        </p:spPr>
        <p:txBody>
          <a:bodyPr anchor="b">
            <a:normAutofit/>
          </a:bodyPr>
          <a:lstStyle/>
          <a:p>
            <a:pPr algn="l"/>
            <a:r>
              <a:rPr lang="en-US" sz="3500" dirty="0"/>
              <a:t>Most Ordered Brands</a:t>
            </a:r>
          </a:p>
        </p:txBody>
      </p:sp>
      <p:pic>
        <p:nvPicPr>
          <p:cNvPr id="7" name="Graphic 6" descr="Shopping cart">
            <a:extLst>
              <a:ext uri="{FF2B5EF4-FFF2-40B4-BE49-F238E27FC236}">
                <a16:creationId xmlns:a16="http://schemas.microsoft.com/office/drawing/2014/main" id="{F7029BB8-C588-F319-EBF7-C3E0C5C80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711" y="2843834"/>
            <a:ext cx="898899" cy="89889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0522" y="2669740"/>
            <a:ext cx="6774135" cy="205704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• </a:t>
            </a:r>
            <a:r>
              <a:rPr lang="en-US" sz="2400" b="1" dirty="0" err="1"/>
              <a:t>Vastranand</a:t>
            </a:r>
            <a:r>
              <a:rPr lang="en-US" sz="2400" b="1" dirty="0"/>
              <a:t> also leads in order volume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• Zink London, Global Desi, Stop show strong demand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• Some brands high volume but lower revenue</a:t>
            </a:r>
          </a:p>
        </p:txBody>
      </p:sp>
      <p:pic>
        <p:nvPicPr>
          <p:cNvPr id="13" name="Graphic 12" descr="Shopping cart">
            <a:extLst>
              <a:ext uri="{FF2B5EF4-FFF2-40B4-BE49-F238E27FC236}">
                <a16:creationId xmlns:a16="http://schemas.microsoft.com/office/drawing/2014/main" id="{CC855E88-38CD-4B6B-A608-101145BD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1073" y="1469503"/>
            <a:ext cx="3918995" cy="39189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140015"/>
            <a:ext cx="7372350" cy="1325880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Category Discount Analysis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993" y="2239590"/>
            <a:ext cx="4247828" cy="32276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• </a:t>
            </a:r>
            <a:r>
              <a:rPr lang="en-US" sz="1800" dirty="0" err="1"/>
              <a:t>Indianwear</a:t>
            </a:r>
            <a:r>
              <a:rPr lang="en-US" sz="1800" dirty="0"/>
              <a:t> (37%) and </a:t>
            </a:r>
            <a:r>
              <a:rPr lang="en-US" sz="1800" dirty="0" err="1"/>
              <a:t>Westernwear</a:t>
            </a:r>
            <a:r>
              <a:rPr lang="en-US" sz="1800" dirty="0"/>
              <a:t> (35%) heavily discounted</a:t>
            </a:r>
          </a:p>
          <a:p>
            <a:pPr marL="0" indent="0">
              <a:buNone/>
            </a:pPr>
            <a:r>
              <a:rPr lang="en-US" sz="1800" dirty="0"/>
              <a:t>• Footwear &amp; </a:t>
            </a:r>
            <a:r>
              <a:rPr lang="en-US" sz="1800" dirty="0" err="1"/>
              <a:t>Jewellery</a:t>
            </a:r>
            <a:r>
              <a:rPr lang="en-US" sz="1800" dirty="0"/>
              <a:t> moderately discounted</a:t>
            </a:r>
          </a:p>
          <a:p>
            <a:pPr marL="0" indent="0">
              <a:buNone/>
            </a:pPr>
            <a:r>
              <a:rPr lang="en-US" sz="1800" dirty="0"/>
              <a:t>• Fragrance has the lowest discount (8%)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E2713E0-076F-79EA-DA22-88C044BA06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357" t="21461"/>
          <a:stretch>
            <a:fillRect/>
          </a:stretch>
        </p:blipFill>
        <p:spPr>
          <a:xfrm>
            <a:off x="4792753" y="2131793"/>
            <a:ext cx="4247828" cy="37421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000000"/>
                </a:solidFill>
              </a:rPr>
              <a:t>Business Insights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Bar Graph with Upward Trend">
            <a:extLst>
              <a:ext uri="{FF2B5EF4-FFF2-40B4-BE49-F238E27FC236}">
                <a16:creationId xmlns:a16="http://schemas.microsoft.com/office/drawing/2014/main" id="{71182E62-01E9-FC3D-B848-52C876F29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6682" y="2381203"/>
            <a:ext cx="4694659" cy="292718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• Risk of over-reliance on top brands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• Discounts drive volume but hurt margins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• Premium categories show pricing power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>
                <a:solidFill>
                  <a:srgbClr val="000000"/>
                </a:solidFill>
              </a:rPr>
              <a:t>Strategic Recommendations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CRM Customer Insights App">
            <a:extLst>
              <a:ext uri="{FF2B5EF4-FFF2-40B4-BE49-F238E27FC236}">
                <a16:creationId xmlns:a16="http://schemas.microsoft.com/office/drawing/2014/main" id="{67E206F3-2800-F0D4-321E-8C9452F18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0578" y="2947260"/>
            <a:ext cx="4333935" cy="292718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Diversify revenue across more brands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Optimize discount strategy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Increase average order value via bundling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Expand premium categories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885" y="1709058"/>
            <a:ext cx="8131629" cy="18287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sz="2800" dirty="0"/>
              <a:t>• Business shows strong demand and scale</a:t>
            </a:r>
            <a:endParaRPr lang="en-US" sz="2800" dirty="0"/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sz="2800" dirty="0"/>
              <a:t>• Long-term growth depends on margin</a:t>
            </a:r>
            <a:r>
              <a:rPr lang="en-US" sz="2800" dirty="0"/>
              <a:t> </a:t>
            </a:r>
            <a:r>
              <a:rPr sz="2800" dirty="0"/>
              <a:t>optimization</a:t>
            </a:r>
            <a:endParaRPr lang="en-US" sz="2800" dirty="0"/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sz="2800" dirty="0"/>
              <a:t>• Data-driven pricing and portfolio strategy </a:t>
            </a:r>
            <a:r>
              <a:rPr lang="en-US" sz="2800" dirty="0"/>
              <a:t>are </a:t>
            </a:r>
            <a:r>
              <a:rPr sz="2800" dirty="0"/>
              <a:t>essential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1485</TotalTime>
  <Words>218</Words>
  <Application>Microsoft Office PowerPoint</Application>
  <PresentationFormat>On-screen Show (4:3)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Sales Analysis of a Fashion Store</vt:lpstr>
      <vt:lpstr>PowerPoint Presentation</vt:lpstr>
      <vt:lpstr>Executive Summary</vt:lpstr>
      <vt:lpstr>Key Performance Metrics</vt:lpstr>
      <vt:lpstr>Top Revenue-Generating Brands</vt:lpstr>
      <vt:lpstr>Most Ordered Brands</vt:lpstr>
      <vt:lpstr>Category Discount Analysis</vt:lpstr>
      <vt:lpstr>Business Insights</vt:lpstr>
      <vt:lpstr>Strategic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B7874</cp:lastModifiedBy>
  <cp:revision>5</cp:revision>
  <dcterms:created xsi:type="dcterms:W3CDTF">2013-01-27T09:14:16Z</dcterms:created>
  <dcterms:modified xsi:type="dcterms:W3CDTF">2026-02-22T13:00:22Z</dcterms:modified>
  <cp:category/>
</cp:coreProperties>
</file>